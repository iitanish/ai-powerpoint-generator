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13"/>
    <p:sldId id="257" r:id="rId14"/>
    <p:sldId id="258" r:id="rId15"/>
    <p:sldId id="259" r:id="rId16"/>
    <p:sldId id="260" r:id="rId17"/>
    <p:sldId id="261" r:id="rId12"/>
    <p:sldId id="262" r:id="rId11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966" autoAdjust="0"/>
  </p:normalViewPr>
  <p:slideViewPr>
    <p:cSldViewPr snapToGrid="0">
      <p:cViewPr varScale="1">
        <p:scale>
          <a:sx n="105" d="100"/>
          <a:sy n="105" d="100"/>
        </p:scale>
        <p:origin x="1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7.xml"/><Relationship Id="rId12" Type="http://schemas.openxmlformats.org/officeDocument/2006/relationships/slide" Target="slides/slide6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8/27/2025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8/27/2025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Start with a compelling statistic about AI's growth.  Maintain a confident and enthusiastic tone.  Highlight the transformative potential of AI.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Use visuals to illustrate each application.  Focus on the practical benefits for the audience.  Emphasize ROI and efficiency gains.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Transition smoothly to the next section, highlighting the balance between opportunities and risks.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Use strong visuals and quantifiable data to support your claims.  Focus on the positive impact on the bottom line.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Acknowledge the challenges but emphasize solutions and proactive strategies.  Highlight the importance of ethical considerations.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Paint a positive picture of the future with AI.  Emphasize the long-term benefits and competitive edge.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17445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928" y="6356350"/>
            <a:ext cx="71628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F8C32-80F8-F614-8280-02F76781F238}"/>
              </a:ext>
            </a:extLst>
          </p:cNvPr>
          <p:cNvSpPr/>
          <p:nvPr userDrawn="1"/>
        </p:nvSpPr>
        <p:spPr>
          <a:xfrm>
            <a:off x="5174459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CB607F-27CE-D613-F812-E70C738FA0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723"/>
          <a:stretch/>
        </p:blipFill>
        <p:spPr>
          <a:xfrm>
            <a:off x="9959711" y="738051"/>
            <a:ext cx="2232289" cy="538189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689F60-3D32-FD74-24A9-266643081E85}"/>
              </a:ext>
            </a:extLst>
          </p:cNvPr>
          <p:cNvCxnSpPr>
            <a:cxnSpLocks/>
          </p:cNvCxnSpPr>
          <p:nvPr userDrawn="1"/>
        </p:nvCxnSpPr>
        <p:spPr>
          <a:xfrm>
            <a:off x="6189979" y="2649682"/>
            <a:ext cx="33259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827D708-B036-EE04-B213-EC3EAAE068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920" y="250919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F691F67-3A33-EA2C-967A-86934DA1D4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401" b="24659"/>
          <a:stretch/>
        </p:blipFill>
        <p:spPr>
          <a:xfrm>
            <a:off x="5856445" y="726334"/>
            <a:ext cx="1898043" cy="5405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6B0D1AB-E9D6-841F-7178-F60F07AF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54488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41B1E5-0891-6540-C6C6-2E4CF929E2D5}"/>
              </a:ext>
            </a:extLst>
          </p:cNvPr>
          <p:cNvCxnSpPr>
            <a:cxnSpLocks/>
          </p:cNvCxnSpPr>
          <p:nvPr userDrawn="1"/>
        </p:nvCxnSpPr>
        <p:spPr>
          <a:xfrm>
            <a:off x="1679972" y="3432325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2CA6CDBD-54C9-2154-A4D6-F432B3CF27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169" y="3291840"/>
            <a:ext cx="972078" cy="28538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541814-983F-1B1C-1D5D-EBAC0D9BEB4C}"/>
              </a:ext>
            </a:extLst>
          </p:cNvPr>
          <p:cNvSpPr/>
          <p:nvPr userDrawn="1"/>
        </p:nvSpPr>
        <p:spPr>
          <a:xfrm>
            <a:off x="7711438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7528785" y="-1437953"/>
            <a:ext cx="3225262" cy="61011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</p:spPr>
        <p:txBody>
          <a:bodyPr/>
          <a:lstStyle>
            <a:lvl1pPr>
              <a:spcAft>
                <a:spcPts val="600"/>
              </a:spcAft>
              <a:buClr>
                <a:schemeClr val="accent2"/>
              </a:buClr>
              <a:defRPr sz="22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724144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7048F4-9454-D035-3356-DD623DFCEE42}"/>
              </a:ext>
            </a:extLst>
          </p:cNvPr>
          <p:cNvSpPr/>
          <p:nvPr userDrawn="1"/>
        </p:nvSpPr>
        <p:spPr>
          <a:xfrm rot="5400000">
            <a:off x="1361771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42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  <a:noFill/>
        </p:spPr>
        <p:txBody>
          <a:bodyPr anchor="t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9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7F52C37-6A33-FD57-31EC-516F581DF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420" b="36176"/>
          <a:stretch/>
        </p:blipFill>
        <p:spPr>
          <a:xfrm>
            <a:off x="0" y="2510651"/>
            <a:ext cx="2841744" cy="43473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7397496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>
            <a:no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914400" indent="-457200">
              <a:buClr>
                <a:schemeClr val="accent2"/>
              </a:buClr>
              <a:buFont typeface="+mj-lt"/>
              <a:buAutoNum type="alphaLcPeriod"/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371600" indent="-457200">
              <a:buClr>
                <a:schemeClr val="accent2"/>
              </a:buClr>
              <a:buFont typeface="+mj-lt"/>
              <a:buAutoNum type="romanLcPeriod"/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714500" indent="-342900">
              <a:buClr>
                <a:schemeClr val="accent2"/>
              </a:buClr>
              <a:buFont typeface="+mj-lt"/>
              <a:buAutoNum type="arabicParenR"/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171700" indent="-342900">
              <a:buClr>
                <a:schemeClr val="accent2"/>
              </a:buClr>
              <a:buFont typeface="+mj-lt"/>
              <a:buAutoNum type="alphaLcParenR"/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C526101-2775-A309-0B4A-DB278C397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5719EF3-43BC-5F74-7396-273F72ED3C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8001534" y="4944272"/>
            <a:ext cx="3848748" cy="19137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7D205C-32E5-5A54-8D89-CB56198B06E5}"/>
              </a:ext>
            </a:extLst>
          </p:cNvPr>
          <p:cNvSpPr/>
          <p:nvPr userDrawn="1"/>
        </p:nvSpPr>
        <p:spPr>
          <a:xfrm rot="5400000">
            <a:off x="3949200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8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16D97AE-EB24-C3DA-21A1-E8EE4631AC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18" r="47395" b="22709"/>
          <a:stretch/>
        </p:blipFill>
        <p:spPr>
          <a:xfrm flipH="1">
            <a:off x="4448831" y="805912"/>
            <a:ext cx="1464735" cy="49614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BF43B9-3946-05E6-521F-EE4BB59B49D0}"/>
              </a:ext>
            </a:extLst>
          </p:cNvPr>
          <p:cNvSpPr/>
          <p:nvPr userDrawn="1"/>
        </p:nvSpPr>
        <p:spPr>
          <a:xfrm>
            <a:off x="4434840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4DEF57-E0D6-D7CA-5D3C-FC97EAB0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930B4666-31C5-1F2B-27D9-2A9F6EC970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algn="ctr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2pPr>
            <a:lvl3pPr algn="ctr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algn="ctr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algn="ctr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9EEBF9-800C-88AE-FE83-60B5F47AFC14}"/>
              </a:ext>
            </a:extLst>
          </p:cNvPr>
          <p:cNvCxnSpPr>
            <a:cxnSpLocks/>
          </p:cNvCxnSpPr>
          <p:nvPr userDrawn="1"/>
        </p:nvCxnSpPr>
        <p:spPr>
          <a:xfrm>
            <a:off x="6174481" y="2843389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301D77B6-9ED1-094C-66A3-7D5AB0CDEA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4042" y="2702904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4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 lIns="91440" rIns="91440"/>
          <a:lstStyle>
            <a:lvl1pPr marL="0" indent="0"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2770632"/>
            <a:ext cx="7571232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9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lIns="91440" rIns="91440"/>
          <a:lstStyle>
            <a:lvl1pPr marL="228600" indent="-228600"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685800">
              <a:spcBef>
                <a:spcPts val="5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1430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6002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0574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B1C5A3-22FF-382D-3801-B6D9C4AC53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2051"/>
          <a:stretch/>
        </p:blipFill>
        <p:spPr>
          <a:xfrm>
            <a:off x="4629335" y="1815780"/>
            <a:ext cx="5586493" cy="50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67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770632"/>
            <a:ext cx="10515600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99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  <a:noFill/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61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6140" y="6356350"/>
            <a:ext cx="784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76" r:id="rId4"/>
    <p:sldLayoutId id="2147483678" r:id="rId5"/>
    <p:sldLayoutId id="2147483684" r:id="rId6"/>
    <p:sldLayoutId id="2147483677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Revolutionizing operations, decisions, and customer interactions.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Driving efficiency and innovation across all sectors.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Unlocking growth opportunities through data-driven insights.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Automate repetitive tasks, boosting productivity.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Analyze big data for actionable business intelligence.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Enhance customer experience with AI-powered tools.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800" b="1">
                <a:latin typeface="Calibri"/>
              </a:defRPr>
            </a:pPr>
            <a:r>
              <a:t>Section: Benefits &amp; Challenges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Increase operational efficiency and reduce costs.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Improve decision-making with real-time data analysis.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Boost customer engagement and loyalty.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Address data privacy and regulatory compliance.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Invest in skilled talent and effective change management.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Mitigate bias in AI models for ethical outcomes.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Embrace machine learning, computer vision, and NLP.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Early adoption leads to faster growth and innovation.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Secure a competitive advantage in the evolving market.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Key Takeaways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 flourish_win32_CP_v3" id="{3BF332BF-22B8-49D8-950E-E9BBBBF59833}" vid="{E4E7F1DC-3AF4-489F-A450-0CED11A8EB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E6BC5B-F32E-483D-A6CB-100D6BCB7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84BFC8-02DA-464F-AE97-4951BE4741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9915FD3-F777-4046-A12C-BE3860E324B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{2FD22641-AF2B-4636-B227-38E398139577}tf56410444_win32</Template>
  <TotalTime>0</TotalTime>
  <Words>447</Words>
  <Application>Microsoft Office PowerPoint</Application>
  <PresentationFormat>Widescreen</PresentationFormat>
  <Paragraphs>130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Baskerville Old Face</vt:lpstr>
      <vt:lpstr>Calibri</vt:lpstr>
      <vt:lpstr>Gill Sans Nova Light</vt:lpstr>
      <vt:lpstr>Custom</vt:lpstr>
      <vt:lpstr>Master  public speaking</vt:lpstr>
      <vt:lpstr>Agenda</vt:lpstr>
      <vt:lpstr>The power  of communication</vt:lpstr>
      <vt:lpstr>Overcoming  nervousness</vt:lpstr>
      <vt:lpstr>Engaging 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 Sharma</dc:creator>
  <cp:lastModifiedBy>Anish Sharma</cp:lastModifiedBy>
  <cp:revision>1</cp:revision>
  <dcterms:created xsi:type="dcterms:W3CDTF">2025-08-26T21:41:23Z</dcterms:created>
  <dcterms:modified xsi:type="dcterms:W3CDTF">2025-08-26T21:42:30Z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