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8" r:id="rId1"/>
  </p:sldMasterIdLst>
  <p:notesMasterIdLst>
    <p:notesMasterId r:id="rId4"/>
  </p:notesMasterIdLst>
  <p:sldIdLst>
    <p:sldId id="256" r:id="rId3"/>
    <p:sldId id="257" r:id="rId2"/>
    <p:sldId id="258" r:id="rId12"/>
    <p:sldId id="259" r:id="rId13"/>
    <p:sldId id="260" r:id="rId14"/>
    <p:sldId id="261" r:id="rId15"/>
    <p:sldId id="262" r:id="rId16"/>
    <p:sldId id="263" r:id="rId17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1272" userDrawn="1">
          <p15:clr>
            <a:srgbClr val="A4A3A4"/>
          </p15:clr>
        </p15:guide>
        <p15:guide id="4" pos="3600" userDrawn="1">
          <p15:clr>
            <a:srgbClr val="A4A3A4"/>
          </p15:clr>
        </p15:guide>
        <p15:guide id="5" pos="2548" userDrawn="1">
          <p15:clr>
            <a:srgbClr val="A4A3A4"/>
          </p15:clr>
        </p15:guide>
        <p15:guide id="6" orient="horz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4" autoAdjust="0"/>
    <p:restoredTop sz="93750" autoAdjust="0"/>
  </p:normalViewPr>
  <p:slideViewPr>
    <p:cSldViewPr snapToGrid="0">
      <p:cViewPr>
        <p:scale>
          <a:sx n="100" d="100"/>
          <a:sy n="100" d="100"/>
        </p:scale>
        <p:origin x="1090" y="-1522"/>
      </p:cViewPr>
      <p:guideLst>
        <p:guide pos="1272"/>
        <p:guide pos="3600"/>
        <p:guide pos="2548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861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customXml" Target="../customXml/item1.xml"/><Relationship Id="rId10" Type="http://schemas.openxmlformats.org/officeDocument/2006/relationships/customXml" Target="../customXml/item2.xml"/><Relationship Id="rId11" Type="http://schemas.openxmlformats.org/officeDocument/2006/relationships/customXml" Target="../customXml/item3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25530-1627-4A64-9B55-5BCACA538084}" type="datetimeFigureOut">
              <a:rPr lang="en-US" smtClean="0"/>
              <a:t>8/16/2020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40B05-FE26-4DD1-A63D-ED8F5C5F6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45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Start with a compelling statistic about AI's growth.  Maintain a confident and enthusiastic tone.  Emphasize the transformative potential.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Use visuals to illustrate each application.  Highlight specific examples relevant to the audience.  Focus on tangible results.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Transition smoothly to the benefits section.  Emphasize the positive impact on the bottom line and overall business strategy.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Quantify the benefits whenever possible. Use charts or graphs to visually represent the improvements.  Focus on ROI and strategic advantages.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Transition to challenges, framing them as opportunities for strategic planning and proactive solutions.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🎯 Key Points: Present solutions alongside challenges.  Highlight successful strategies for overcoming these hurdles.  Showcase best practices.</a:t>
            </a:r>
          </a:p>
          <a:p/>
          <a:p>
            <a:r>
              <a:t>📊 Template Context:</a:t>
            </a:r>
          </a:p>
          <a:p>
            <a:r>
              <a:t>• Using Calibri fonts for consistency</a:t>
            </a:r>
          </a:p>
          <a:p>
            <a:r>
              <a:t>• Color scheme extracted from your template for brand alignment  </a:t>
            </a:r>
          </a:p>
          <a:p>
            <a:r>
              <a:t>• Visual elements positioned to match template design</a:t>
            </a:r>
          </a:p>
          <a:p/>
          <a:p>
            <a:r>
              <a:t>💡 Presentation Tips:</a:t>
            </a:r>
          </a:p>
          <a:p>
            <a:r>
              <a:t>• Maintain eye contact and use confident body language</a:t>
            </a:r>
          </a:p>
          <a:p>
            <a:r>
              <a:t>• Pause after key points to allow audience absorption</a:t>
            </a:r>
          </a:p>
          <a:p>
            <a:r>
              <a:t>• Use template colors when pointing to specific elements</a:t>
            </a:r>
          </a:p>
          <a:p>
            <a:r>
              <a:t>• Reference any template images or graphics naturally</a:t>
            </a:r>
          </a:p>
          <a:p/>
          <a:p>
            <a:r>
              <a:t>⏱️ Timing: Allow 2-3 minutes per slide for engagement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e Sign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E16785F-E16D-4167-8931-205650D5D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94" y="812131"/>
            <a:ext cx="6569812" cy="843413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B7E5CA4-BA63-4FBC-A0AA-AE9BE2007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0280" y="3026664"/>
            <a:ext cx="2944368" cy="1124712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6AAD39F-3F3E-460A-B930-32B2A5131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7512" y="4233672"/>
            <a:ext cx="6236208" cy="420624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550580-53CF-4B11-B6C1-58E36F6C7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512" y="8238744"/>
            <a:ext cx="6236208" cy="420624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696660D-5A63-4771-91D0-E17CC922CB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7512" y="5212080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2F0050C-CD4E-4B1D-9EAC-A202F0354E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1792" y="5907024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73DE88E-260E-4B6E-BA50-EA1D79392F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512" y="6611112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F8B5FAD2-CF6A-4FFA-9566-5546C7D615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7512" y="7324344"/>
            <a:ext cx="617220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B829D8-B99D-46E4-9AB1-2F85E8F103C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075" y="4752472"/>
            <a:ext cx="4721902" cy="196745"/>
          </a:xfrm>
          <a:prstGeom prst="rect">
            <a:avLst/>
          </a:prstGeom>
        </p:spPr>
      </p:pic>
      <p:sp>
        <p:nvSpPr>
          <p:cNvPr id="13" name="Title 8">
            <a:extLst>
              <a:ext uri="{FF2B5EF4-FFF2-40B4-BE49-F238E27FC236}">
                <a16:creationId xmlns:a16="http://schemas.microsoft.com/office/drawing/2014/main" id="{21CA475E-99C4-4A45-ACFB-690C5AE93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1" y="1847088"/>
            <a:ext cx="6217920" cy="1124712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8651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 userDrawn="1">
          <p15:clr>
            <a:srgbClr val="FBAE40"/>
          </p15:clr>
        </p15:guide>
        <p15:guide id="2" orient="horz" pos="186" userDrawn="1">
          <p15:clr>
            <a:srgbClr val="FBAE40"/>
          </p15:clr>
        </p15:guide>
        <p15:guide id="3" pos="4785" userDrawn="1">
          <p15:clr>
            <a:srgbClr val="FBAE40"/>
          </p15:clr>
        </p15:guide>
        <p15:guide id="4" orient="horz" pos="6150" userDrawn="1">
          <p15:clr>
            <a:srgbClr val="FBAE40"/>
          </p15:clr>
        </p15:guide>
        <p15:guide id="5" orient="horz" pos="31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mple Sign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E16785F-E16D-4167-8931-205650D5D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294" y="812131"/>
            <a:ext cx="6569812" cy="8434137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2B7E5CA4-BA63-4FBC-A0AA-AE9BE20070E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1792" y="3108960"/>
            <a:ext cx="6217920" cy="731520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6AAD39F-3F3E-460A-B930-32B2A51315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1792" y="3831336"/>
            <a:ext cx="6217920" cy="457200"/>
          </a:xfrm>
        </p:spPr>
        <p:txBody>
          <a:bodyPr>
            <a:normAutofit/>
          </a:bodyPr>
          <a:lstStyle>
            <a:lvl1pPr algn="ctr"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550580-53CF-4B11-B6C1-58E36F6C7E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1792" y="8238744"/>
            <a:ext cx="6217920" cy="457200"/>
          </a:xfrm>
        </p:spPr>
        <p:txBody>
          <a:bodyPr>
            <a:normAutofit/>
          </a:bodyPr>
          <a:lstStyle>
            <a:lvl1pPr algn="ctr"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05E4357-7985-4EDC-8697-0099EB29856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4607" y="4532610"/>
            <a:ext cx="4721902" cy="19674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9CE08318-E7D1-4A13-8ADB-D0DA2485DA2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077964">
            <a:off x="3011238" y="5207332"/>
            <a:ext cx="1548641" cy="264180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B5FEDF0-13DF-4D65-9DC9-501305ECD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91" y="1847088"/>
            <a:ext cx="6217920" cy="91440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</p:spTree>
    <p:extLst>
      <p:ext uri="{BB962C8B-B14F-4D97-AF65-F5344CB8AC3E}">
        <p14:creationId xmlns:p14="http://schemas.microsoft.com/office/powerpoint/2010/main" val="425455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">
          <p15:clr>
            <a:srgbClr val="FBAE40"/>
          </p15:clr>
        </p15:guide>
        <p15:guide id="2" orient="horz" pos="186">
          <p15:clr>
            <a:srgbClr val="FBAE40"/>
          </p15:clr>
        </p15:guide>
        <p15:guide id="3" pos="4785">
          <p15:clr>
            <a:srgbClr val="FBAE40"/>
          </p15:clr>
        </p15:guide>
        <p15:guide id="4" orient="horz" pos="6150">
          <p15:clr>
            <a:srgbClr val="FBAE40"/>
          </p15:clr>
        </p15:guide>
        <p15:guide id="5" orient="horz" pos="3168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21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059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2" r:id="rId2"/>
  </p:sldLayoutIdLst>
  <p:txStyles>
    <p:titleStyle>
      <a:lvl1pPr algn="l" defTabSz="1301594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301594" rtl="0" eaLnBrk="1" latinLnBrk="0" hangingPunct="1">
        <a:lnSpc>
          <a:spcPct val="90000"/>
        </a:lnSpc>
        <a:spcBef>
          <a:spcPts val="1424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0796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301594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952390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3187" indent="0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9384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6pPr>
      <a:lvl7pPr marL="4230180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7pPr>
      <a:lvl8pPr marL="4880976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8pPr>
      <a:lvl9pPr marL="5531773" indent="-325399" algn="l" defTabSz="1301594" rtl="0" eaLnBrk="1" latinLnBrk="0" hangingPunct="1">
        <a:lnSpc>
          <a:spcPct val="90000"/>
        </a:lnSpc>
        <a:spcBef>
          <a:spcPts val="712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1pPr>
      <a:lvl2pPr marL="650796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2pPr>
      <a:lvl3pPr marL="1301594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3pPr>
      <a:lvl4pPr marL="1952391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4pPr>
      <a:lvl5pPr marL="2603187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5pPr>
      <a:lvl6pPr marL="3253983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6pPr>
      <a:lvl7pPr marL="3904782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7pPr>
      <a:lvl8pPr marL="4555579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8pPr>
      <a:lvl9pPr marL="5206375" algn="l" defTabSz="1301594" rtl="0" eaLnBrk="1" latinLnBrk="0" hangingPunct="1">
        <a:defRPr sz="25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11" userDrawn="1">
          <p15:clr>
            <a:srgbClr val="F26B43"/>
          </p15:clr>
        </p15:guide>
        <p15:guide id="2" orient="horz" pos="186" userDrawn="1">
          <p15:clr>
            <a:srgbClr val="F26B43"/>
          </p15:clr>
        </p15:guide>
        <p15:guide id="3" pos="4785" userDrawn="1">
          <p15:clr>
            <a:srgbClr val="F26B43"/>
          </p15:clr>
        </p15:guide>
        <p15:guide id="4" orient="horz" pos="615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400" i="1">
                <a:latin typeface="Calibri"/>
              </a:defRPr>
            </a:pPr>
            <a:r>
              <a:t>AI-Generated Presentation</a:t>
            </a:r>
          </a:p>
          <a:p>
            <a:pPr algn="ctr">
              <a:defRPr sz="2400" i="1">
                <a:latin typeface="Calibri"/>
              </a:defRPr>
            </a:pPr>
            <a:r>
              <a:t>August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Revolutionizing operations, decisions, and customer interactions.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Driving efficiency and innovation across all sectors.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Unlocking growth through data-driven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Automate repetitive tasks, boosting productivity.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Analyze big data for actionable business intelligence.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Enhance customer experience with AI-powered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latin typeface="Calibri"/>
              </a:defRPr>
            </a:pPr>
            <a:r>
              <a:t>Section: Benefits &amp;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Increase operational efficiency and reduce costs.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Improve decision-making with real-time data analysis.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Boost customer engagement and loyalty.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800" b="1">
                <a:latin typeface="Calibri"/>
              </a:defRPr>
            </a:pPr>
            <a:r>
              <a:t>Section: Challenges &amp; Mitigation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Address data privacy and regulatory compliance.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Invest in skilled talent and effective change management.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2400">
                <a:latin typeface="Calibri"/>
              </a:defRPr>
            </a:pPr>
            <a:r>
              <a:t>Mitigate bias in AI models for ethical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Calibri"/>
              </a:defRPr>
            </a:pPr>
            <a:r>
              <a:t>Key Takeaways &amp;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ondary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Elementary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1ECCB1-5CA9-4F89-9EFC-AE888E928E70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CB65D1-E6AF-4FAE-884B-73D929FD8AA3}"/>
</file>

<file path=customXml/itemProps2.xml><?xml version="1.0" encoding="utf-8"?>
<ds:datastoreItem xmlns:ds="http://schemas.openxmlformats.org/officeDocument/2006/customXml" ds:itemID="{F93D8818-4CFE-41AF-AE17-5278E9062683}"/>
</file>

<file path=customXml/itemProps3.xml><?xml version="1.0" encoding="utf-8"?>
<ds:datastoreItem xmlns:ds="http://schemas.openxmlformats.org/officeDocument/2006/customXml" ds:itemID="{A6B8BA1F-FE86-4798-9192-82FD95852FE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</Words>
  <Application>Microsoft Office PowerPoint</Application>
  <PresentationFormat>Custom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Kristen ITC</vt:lpstr>
      <vt:lpstr>Quire Sans</vt:lpstr>
      <vt:lpstr>Secondary</vt:lpstr>
      <vt:lpstr>Peyton’s</vt:lpstr>
      <vt:lpstr>Peyton’s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2020-08-16T22:46:29Z</dcterms:created>
  <dcterms:modified xsi:type="dcterms:W3CDTF">2020-08-16T22:46:31Z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