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13"/>
    <p:sldId id="257" r:id="rId14"/>
    <p:sldId id="258" r:id="rId15"/>
    <p:sldId id="259" r:id="rId16"/>
    <p:sldId id="260" r:id="rId17"/>
    <p:sldId id="261" r:id="rId12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966" autoAdjust="0"/>
  </p:normalViewPr>
  <p:slideViewPr>
    <p:cSldViewPr snapToGrid="0">
      <p:cViewPr varScale="1">
        <p:scale>
          <a:sx n="105" d="100"/>
          <a:sy n="105" d="100"/>
        </p:scale>
        <p:origin x="1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7.xml"/><Relationship Id="rId12" Type="http://schemas.openxmlformats.org/officeDocument/2006/relationships/slide" Target="slides/slide6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8/27/2025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8/27/2025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Start by emphasizing the transformative impact of AI. Highlight its broad applicability across various sectors.</a:t>
            </a:r>
          </a:p>
          <a:p/>
          <a:p>
            <a:r>
              <a:t>Tips:</a:t>
            </a:r>
          </a:p>
          <a:p>
            <a:r>
              <a:t>- Pause between bullets</a:t>
            </a:r>
          </a:p>
          <a:p>
            <a:r>
              <a:t>- Use a real example</a:t>
            </a:r>
          </a:p>
          <a:p>
            <a:r>
              <a:t>- Invite 1-2 quick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Focus on practical applications.  Use examples relevant to the audience's industry if possible.</a:t>
            </a:r>
          </a:p>
          <a:p/>
          <a:p>
            <a:r>
              <a:t>Tips:</a:t>
            </a:r>
          </a:p>
          <a:p>
            <a:r>
              <a:t>- Pause between bullets</a:t>
            </a:r>
          </a:p>
          <a:p>
            <a:r>
              <a:t>- Use a real example</a:t>
            </a:r>
          </a:p>
          <a:p>
            <a:r>
              <a:t>- Invite 1-2 quick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Highlight the quantifiable benefits of AI adoption.  Emphasize ROI and positive impact on key metrics.</a:t>
            </a:r>
          </a:p>
          <a:p/>
          <a:p>
            <a:r>
              <a:t>Tips:</a:t>
            </a:r>
          </a:p>
          <a:p>
            <a:r>
              <a:t>- Pause between bullets</a:t>
            </a:r>
          </a:p>
          <a:p>
            <a:r>
              <a:t>- Use a real example</a:t>
            </a:r>
          </a:p>
          <a:p>
            <a:r>
              <a:t>- Invite 1-2 quick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Acknowledge the challenges but frame them as opportunities for strategic planning and innovation.</a:t>
            </a:r>
          </a:p>
          <a:p/>
          <a:p>
            <a:r>
              <a:t>Tips:</a:t>
            </a:r>
          </a:p>
          <a:p>
            <a:r>
              <a:t>- Pause between bullets</a:t>
            </a:r>
          </a:p>
          <a:p>
            <a:r>
              <a:t>- Use a real example</a:t>
            </a:r>
          </a:p>
          <a:p>
            <a:r>
              <a:t>- Invite 1-2 quick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Paint a positive picture of the future with AI.  Emphasize the competitive edge for early adopters.</a:t>
            </a:r>
          </a:p>
          <a:p/>
          <a:p>
            <a:r>
              <a:t>Tips:</a:t>
            </a:r>
          </a:p>
          <a:p>
            <a:r>
              <a:t>- Pause between bullets</a:t>
            </a:r>
          </a:p>
          <a:p>
            <a:r>
              <a:t>- Use a real example</a:t>
            </a:r>
          </a:p>
          <a:p>
            <a:r>
              <a:t>- Invite 1-2 quick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Summarize outcomes, reiterate key actions, invite questions.</a:t>
            </a:r>
          </a:p>
          <a:p/>
          <a:p>
            <a:r>
              <a:t>Tips:</a:t>
            </a:r>
          </a:p>
          <a:p>
            <a:r>
              <a:t>- Pause between bullets</a:t>
            </a:r>
          </a:p>
          <a:p>
            <a:r>
              <a:t>- Use a real example</a:t>
            </a:r>
          </a:p>
          <a:p>
            <a:r>
              <a:t>- Invite 1-2 quick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8.png"/><Relationship Id="rId5" Type="http://schemas.openxmlformats.org/officeDocument/2006/relationships/image" Target="../media/image9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D90036E-D78E-7995-BEF4-F64DA613C7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  <a:noFill/>
        </p:spPr>
        <p:txBody>
          <a:bodyPr anchor="b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  <a:noFill/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17445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928" y="6356350"/>
            <a:ext cx="71628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F8C32-80F8-F614-8280-02F76781F238}"/>
              </a:ext>
            </a:extLst>
          </p:cNvPr>
          <p:cNvSpPr/>
          <p:nvPr userDrawn="1"/>
        </p:nvSpPr>
        <p:spPr>
          <a:xfrm>
            <a:off x="5174459" y="0"/>
            <a:ext cx="457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CB607F-27CE-D613-F812-E70C738FA0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723"/>
          <a:stretch/>
        </p:blipFill>
        <p:spPr>
          <a:xfrm>
            <a:off x="9959711" y="738051"/>
            <a:ext cx="2232289" cy="538189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689F60-3D32-FD74-24A9-266643081E85}"/>
              </a:ext>
            </a:extLst>
          </p:cNvPr>
          <p:cNvCxnSpPr>
            <a:cxnSpLocks/>
          </p:cNvCxnSpPr>
          <p:nvPr userDrawn="1"/>
        </p:nvCxnSpPr>
        <p:spPr>
          <a:xfrm>
            <a:off x="6189979" y="2649682"/>
            <a:ext cx="332598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827D708-B036-EE04-B213-EC3EAAE0681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9920" y="2509197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912" y="2185416"/>
            <a:ext cx="9052560" cy="2487168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F691F67-3A33-EA2C-967A-86934DA1D4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401" b="24659"/>
          <a:stretch/>
        </p:blipFill>
        <p:spPr>
          <a:xfrm>
            <a:off x="5856445" y="726334"/>
            <a:ext cx="1898043" cy="5405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6B0D1AB-E9D6-841F-7178-F60F07AF3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54488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41B1E5-0891-6540-C6C6-2E4CF929E2D5}"/>
              </a:ext>
            </a:extLst>
          </p:cNvPr>
          <p:cNvCxnSpPr>
            <a:cxnSpLocks/>
          </p:cNvCxnSpPr>
          <p:nvPr userDrawn="1"/>
        </p:nvCxnSpPr>
        <p:spPr>
          <a:xfrm>
            <a:off x="1679972" y="3432325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2CA6CDBD-54C9-2154-A4D6-F432B3CF27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169" y="3291840"/>
            <a:ext cx="972078" cy="28538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7541814-983F-1B1C-1D5D-EBAC0D9BEB4C}"/>
              </a:ext>
            </a:extLst>
          </p:cNvPr>
          <p:cNvSpPr/>
          <p:nvPr userDrawn="1"/>
        </p:nvSpPr>
        <p:spPr>
          <a:xfrm>
            <a:off x="7711438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7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136" t="6121"/>
          <a:stretch/>
        </p:blipFill>
        <p:spPr>
          <a:xfrm rot="16200000" flipH="1" flipV="1">
            <a:off x="7528785" y="-1437953"/>
            <a:ext cx="3225262" cy="61011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</p:spPr>
        <p:txBody>
          <a:bodyPr/>
          <a:lstStyle>
            <a:lvl1pPr>
              <a:spcAft>
                <a:spcPts val="600"/>
              </a:spcAft>
              <a:buClr>
                <a:schemeClr val="accent2"/>
              </a:buClr>
              <a:defRPr sz="22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724144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7048F4-9454-D035-3356-DD623DFCEE42}"/>
              </a:ext>
            </a:extLst>
          </p:cNvPr>
          <p:cNvSpPr/>
          <p:nvPr userDrawn="1"/>
        </p:nvSpPr>
        <p:spPr>
          <a:xfrm rot="5400000">
            <a:off x="1361771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42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  <a:noFill/>
        </p:spPr>
        <p:txBody>
          <a:bodyPr anchor="t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9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7F52C37-6A33-FD57-31EC-516F581DF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420" b="36176"/>
          <a:stretch/>
        </p:blipFill>
        <p:spPr>
          <a:xfrm>
            <a:off x="0" y="2510651"/>
            <a:ext cx="2841744" cy="43473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7397496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>
            <a:noAutofit/>
          </a:bodyPr>
          <a:lstStyle>
            <a:lvl1pPr marL="457200" indent="-457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914400" indent="-457200">
              <a:buClr>
                <a:schemeClr val="accent2"/>
              </a:buClr>
              <a:buFont typeface="+mj-lt"/>
              <a:buAutoNum type="alphaLcPeriod"/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371600" indent="-457200">
              <a:buClr>
                <a:schemeClr val="accent2"/>
              </a:buClr>
              <a:buFont typeface="+mj-lt"/>
              <a:buAutoNum type="romanLcPeriod"/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714500" indent="-342900">
              <a:buClr>
                <a:schemeClr val="accent2"/>
              </a:buClr>
              <a:buFont typeface="+mj-lt"/>
              <a:buAutoNum type="arabicParenR"/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171700" indent="-342900">
              <a:buClr>
                <a:schemeClr val="accent2"/>
              </a:buClr>
              <a:buFont typeface="+mj-lt"/>
              <a:buAutoNum type="alphaLcParenR"/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C526101-2775-A309-0B4A-DB278C397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8" y="2697480"/>
            <a:ext cx="5276088" cy="348386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5719EF3-43BC-5F74-7396-273F72ED3C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8001534" y="4944272"/>
            <a:ext cx="3848748" cy="19137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7D205C-32E5-5A54-8D89-CB56198B06E5}"/>
              </a:ext>
            </a:extLst>
          </p:cNvPr>
          <p:cNvSpPr/>
          <p:nvPr userDrawn="1"/>
        </p:nvSpPr>
        <p:spPr>
          <a:xfrm rot="5400000">
            <a:off x="3949200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8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16D97AE-EB24-C3DA-21A1-E8EE4631AC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118" r="47395" b="22709"/>
          <a:stretch/>
        </p:blipFill>
        <p:spPr>
          <a:xfrm flipH="1">
            <a:off x="4448831" y="805912"/>
            <a:ext cx="1464735" cy="49614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BF43B9-3946-05E6-521F-EE4BB59B49D0}"/>
              </a:ext>
            </a:extLst>
          </p:cNvPr>
          <p:cNvSpPr/>
          <p:nvPr userDrawn="1"/>
        </p:nvSpPr>
        <p:spPr>
          <a:xfrm>
            <a:off x="4434840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4DEF57-E0D6-D7CA-5D3C-FC97EAB0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930B4666-31C5-1F2B-27D9-2A9F6EC970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algn="ctr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2pPr>
            <a:lvl3pPr algn="ctr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algn="ctr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algn="ctr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93792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9EEBF9-800C-88AE-FE83-60B5F47AFC14}"/>
              </a:ext>
            </a:extLst>
          </p:cNvPr>
          <p:cNvCxnSpPr>
            <a:cxnSpLocks/>
          </p:cNvCxnSpPr>
          <p:nvPr userDrawn="1"/>
        </p:nvCxnSpPr>
        <p:spPr>
          <a:xfrm>
            <a:off x="6174481" y="2843389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301D77B6-9ED1-094C-66A3-7D5AB0CDEA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4042" y="2702904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4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770632"/>
            <a:ext cx="2487168" cy="3502152"/>
          </a:xfrm>
        </p:spPr>
        <p:txBody>
          <a:bodyPr lIns="91440" rIns="91440"/>
          <a:lstStyle>
            <a:lvl1pPr marL="0" indent="0"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85616" y="2770632"/>
            <a:ext cx="7571232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90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 lIns="91440" rIns="91440"/>
          <a:lstStyle>
            <a:lvl1pPr marL="228600" indent="-228600"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685800">
              <a:spcBef>
                <a:spcPts val="5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1430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6002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0574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B1C5A3-22FF-382D-3801-B6D9C4AC53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2051"/>
          <a:stretch/>
        </p:blipFill>
        <p:spPr>
          <a:xfrm>
            <a:off x="4629335" y="1815780"/>
            <a:ext cx="5586493" cy="504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67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770632"/>
            <a:ext cx="10515600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999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  <a:noFill/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061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6140" y="6356350"/>
            <a:ext cx="784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76" r:id="rId4"/>
    <p:sldLayoutId id="2147483678" r:id="rId5"/>
    <p:sldLayoutId id="2147483684" r:id="rId6"/>
    <p:sldLayoutId id="2147483677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>
                <a:solidFill>
                  <a:srgbClr val="2D2D2D"/>
                </a:solidFill>
                <a:latin typeface="Calibri"/>
              </a:defRPr>
            </a:pPr>
            <a:r>
              <a:t>Revolutionizing operations, decisions, and customer interactions.</a:t>
            </a:r>
          </a:p>
          <a:p>
            <a:pPr>
              <a:defRPr sz="2000">
                <a:solidFill>
                  <a:srgbClr val="2D2D2D"/>
                </a:solidFill>
                <a:latin typeface="Calibri"/>
              </a:defRPr>
            </a:pPr>
            <a:r>
              <a:t>Across industries, AI drives automation, data analysis, and trend prediction.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>
                <a:solidFill>
                  <a:srgbClr val="2D2D2D"/>
                </a:solidFill>
                <a:latin typeface="Calibri"/>
              </a:defRPr>
            </a:pPr>
            <a:r>
              <a:t>Automating repetitive tasks for increased efficiency.</a:t>
            </a:r>
          </a:p>
          <a:p>
            <a:pPr>
              <a:defRPr sz="2000">
                <a:solidFill>
                  <a:srgbClr val="2D2D2D"/>
                </a:solidFill>
                <a:latin typeface="Calibri"/>
              </a:defRPr>
            </a:pPr>
            <a:r>
              <a:t>Unlocking actionable insights from big data.</a:t>
            </a:r>
          </a:p>
          <a:p>
            <a:pPr>
              <a:defRPr sz="2000">
                <a:solidFill>
                  <a:srgbClr val="2D2D2D"/>
                </a:solidFill>
                <a:latin typeface="Calibri"/>
              </a:defRPr>
            </a:pPr>
            <a:r>
              <a:t>Enhancing customer experience through AI-powered support.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>
                <a:solidFill>
                  <a:srgbClr val="2D2D2D"/>
                </a:solidFill>
                <a:latin typeface="Calibri"/>
              </a:defRPr>
            </a:pPr>
            <a:r>
              <a:t>Boost operational efficiency and reduce costs.</a:t>
            </a:r>
          </a:p>
          <a:p>
            <a:pPr>
              <a:defRPr sz="2000">
                <a:solidFill>
                  <a:srgbClr val="2D2D2D"/>
                </a:solidFill>
                <a:latin typeface="Calibri"/>
              </a:defRPr>
            </a:pPr>
            <a:r>
              <a:t>Improve decision-making with real-time data analysis.</a:t>
            </a:r>
          </a:p>
          <a:p>
            <a:pPr>
              <a:defRPr sz="2000">
                <a:solidFill>
                  <a:srgbClr val="2D2D2D"/>
                </a:solidFill>
                <a:latin typeface="Calibri"/>
              </a:defRPr>
            </a:pPr>
            <a:r>
              <a:t>Enhance customer engagement and foster loyalty.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>
                <a:solidFill>
                  <a:srgbClr val="2D2D2D"/>
                </a:solidFill>
                <a:latin typeface="Calibri"/>
              </a:defRPr>
            </a:pPr>
            <a:r>
              <a:t>Addressing data privacy and regulatory compliance.</a:t>
            </a:r>
          </a:p>
          <a:p>
            <a:pPr>
              <a:defRPr sz="2000">
                <a:solidFill>
                  <a:srgbClr val="2D2D2D"/>
                </a:solidFill>
                <a:latin typeface="Calibri"/>
              </a:defRPr>
            </a:pPr>
            <a:r>
              <a:t>Building a skilled workforce and managing organizational change.</a:t>
            </a:r>
          </a:p>
          <a:p>
            <a:pPr>
              <a:defRPr sz="2000">
                <a:solidFill>
                  <a:srgbClr val="2D2D2D"/>
                </a:solidFill>
                <a:latin typeface="Calibri"/>
              </a:defRPr>
            </a:pPr>
            <a:r>
              <a:t>Mitigating bias in AI models for fairness and accuracy.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>
                <a:solidFill>
                  <a:srgbClr val="2D2D2D"/>
                </a:solidFill>
                <a:latin typeface="Calibri"/>
              </a:defRPr>
            </a:pPr>
            <a:r>
              <a:t>Leverage machine learning, computer vision, and NLP for competitive advantage.</a:t>
            </a:r>
          </a:p>
          <a:p>
            <a:pPr>
              <a:defRPr sz="2000">
                <a:solidFill>
                  <a:srgbClr val="2D2D2D"/>
                </a:solidFill>
                <a:latin typeface="Calibri"/>
              </a:defRPr>
            </a:pPr>
            <a:r>
              <a:t>Early adoption fuels faster growth and innovation.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>
                <a:solidFill>
                  <a:srgbClr val="2D2D2D"/>
                </a:solidFill>
                <a:latin typeface="Calibri"/>
              </a:defRPr>
            </a:pPr>
            <a:r>
              <a:t>Covered 5 content areas</a:t>
            </a:r>
          </a:p>
          <a:p>
            <a:pPr>
              <a:defRPr sz="2000">
                <a:solidFill>
                  <a:srgbClr val="2D2D2D"/>
                </a:solidFill>
                <a:latin typeface="Calibri"/>
              </a:defRPr>
            </a:pPr>
            <a:r>
              <a:t>Strategic insights with actionable next steps</a:t>
            </a:r>
          </a:p>
          <a:p>
            <a:pPr>
              <a:defRPr sz="2000">
                <a:solidFill>
                  <a:srgbClr val="2D2D2D"/>
                </a:solidFill>
                <a:latin typeface="Calibri"/>
              </a:defRPr>
            </a:pPr>
            <a:r>
              <a:t>Open for questions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Baskerville Old Face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oral flourish_win32_CP_v3" id="{3BF332BF-22B8-49D8-950E-E9BBBBF59833}" vid="{E4E7F1DC-3AF4-489F-A450-0CED11A8EB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E6BC5B-F32E-483D-A6CB-100D6BCB78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84BFC8-02DA-464F-AE97-4951BE47415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9915FD3-F777-4046-A12C-BE3860E324B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{2FD22641-AF2B-4636-B227-38E398139577}tf56410444_win32</Template>
  <TotalTime>0</TotalTime>
  <Words>447</Words>
  <Application>Microsoft Office PowerPoint</Application>
  <PresentationFormat>Widescreen</PresentationFormat>
  <Paragraphs>130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Baskerville Old Face</vt:lpstr>
      <vt:lpstr>Calibri</vt:lpstr>
      <vt:lpstr>Gill Sans Nova Light</vt:lpstr>
      <vt:lpstr>Custom</vt:lpstr>
      <vt:lpstr>Master  public speaking</vt:lpstr>
      <vt:lpstr>Agenda</vt:lpstr>
      <vt:lpstr>The power  of communication</vt:lpstr>
      <vt:lpstr>Overcoming  nervousness</vt:lpstr>
      <vt:lpstr>Engaging 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Presentation</dc:title>
  <dc:creator>AI PowerPoint Generator Pro</dc:creator>
  <cp:lastModifiedBy>Anish Sharma</cp:lastModifiedBy>
  <cp:revision>1</cp:revision>
  <dcterms:created xsi:type="dcterms:W3CDTF">2025-08-26T21:41:23Z</dcterms:created>
  <dcterms:modified xsi:type="dcterms:W3CDTF">2025-08-26T21:42:30Z</dcterms:modified>
  <dc:subject>Technology Strategy &amp; Insights</dc:subject>
  <dc:description>Generated 2025-08-27 04:41</dc:descript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